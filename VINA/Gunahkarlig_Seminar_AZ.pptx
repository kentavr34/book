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0" autoAdjust="0"/>
    <p:restoredTop sz="94610"/>
  </p:normalViewPr>
  <p:slideViewPr>
    <p:cSldViewPr snapToGrid="0" snapToObjects="1">
      <p:cViewPr>
        <p:scale>
          <a:sx n="104" d="100"/>
          <a:sy n="104" d="100"/>
        </p:scale>
        <p:origin x="4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622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GÜNAHKARLIĞIN PSİXOLOGİYASI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TARİX  •  NƏTİCƏLƏR  •  SAĞALMA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572000" cy="45719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3619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 baxış, depressiya ilə mədəni korrelyasiyalar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və sübut əsaslı sağalma yolları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2331720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KƏNAN RƏHİMOV</a:t>
            </a:r>
          </a:p>
        </p:txBody>
      </p:sp>
      <p:sp>
        <p:nvSpPr>
          <p:cNvPr id="10" name="Text 8"/>
          <p:cNvSpPr/>
          <p:nvPr/>
        </p:nvSpPr>
        <p:spPr>
          <a:xfrm>
            <a:off x="274320" y="275234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Həkim-Psixoterapevt  •  </a:t>
            </a:r>
            <a:r>
              <a:rPr lang="az-Latn-AZ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Ümumdünya Sosial Psixologiya </a:t>
            </a:r>
            <a:r>
              <a:rPr lang="en-US" sz="1300" dirty="0" err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Konfransı</a:t>
            </a: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</a:t>
            </a:r>
            <a:r>
              <a:rPr lang="ru-RU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72300" y="571500"/>
            <a:ext cx="502920" cy="502920"/>
          </a:xfrm>
          <a:prstGeom prst="line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1716" y="1156716"/>
            <a:ext cx="704088" cy="704088"/>
          </a:xfrm>
          <a:prstGeom prst="line">
            <a:avLst/>
          </a:prstGeom>
          <a:solidFill>
            <a:srgbClr val="000000">
              <a:alpha val="30000"/>
            </a:srgbClr>
          </a:solidFill>
          <a:ln w="16510">
            <a:solidFill>
              <a:srgbClr val="D4A0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71132" y="1741932"/>
            <a:ext cx="905256" cy="905256"/>
          </a:xfrm>
          <a:prstGeom prst="line">
            <a:avLst/>
          </a:prstGeom>
          <a:solidFill>
            <a:srgbClr val="000000">
              <a:alpha val="30000"/>
            </a:srgbClr>
          </a:solidFill>
          <a:ln w="20320">
            <a:solidFill>
              <a:srgbClr val="D4A0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0548" y="2327148"/>
            <a:ext cx="1106424" cy="1106424"/>
          </a:xfrm>
          <a:prstGeom prst="line">
            <a:avLst/>
          </a:prstGeom>
          <a:solidFill>
            <a:srgbClr val="000000">
              <a:alpha val="30000"/>
            </a:srgbClr>
          </a:solidFill>
          <a:ln w="24130">
            <a:solidFill>
              <a:srgbClr val="D4A0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69964" y="2912364"/>
            <a:ext cx="1307592" cy="1307592"/>
          </a:xfrm>
          <a:prstGeom prst="line">
            <a:avLst/>
          </a:prstGeom>
          <a:solidFill>
            <a:srgbClr val="000000">
              <a:alpha val="30000"/>
            </a:srgbClr>
          </a:solidFill>
          <a:ln w="2794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GÜNAH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MƏRUZƏNIN QURULUŞU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Tarixdən terapiyaya üç əlaqəli blok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1005840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34440"/>
            <a:ext cx="914400" cy="1005840"/>
          </a:xfrm>
          <a:prstGeom prst="rect">
            <a:avLst/>
          </a:prstGeom>
          <a:solidFill>
            <a:srgbClr val="D4A017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43560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71600" y="129844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TARİXİ BAXIŞ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7335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İbtidai tabu sistemlərindən monoteizm, imperiyal siyasət və milli ənənələrə — günahkarlıq stereotiplərinin formalaşması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423160"/>
            <a:ext cx="8503920" cy="1005840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1E90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423160"/>
            <a:ext cx="914400" cy="1005840"/>
          </a:xfrm>
          <a:prstGeom prst="rect">
            <a:avLst/>
          </a:prstGeom>
          <a:solidFill>
            <a:srgbClr val="1E90FF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62432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71600" y="248716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NƏTİCƏLƏR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286207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Psixoloji, sosial, psixosomatik: verilər, korrelyasiyalar, «günəş mifinin» dağıdılması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8503920" cy="1005840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611880"/>
            <a:ext cx="914400" cy="1005840"/>
          </a:xfrm>
          <a:prstGeom prst="rect">
            <a:avLst/>
          </a:prstGeom>
          <a:solidFill>
            <a:srgbClr val="2E8B57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81304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III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371600" y="367588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SAĞALMA YOLLARI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405079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Günah keçisindən özünəşəfqətin nevroloji elminə: nə işləyir, nə işləmir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TERMİNOLOJİ LÜĞƏT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Tədqiqatda istifadə edilən əsas psixoloji terminlərin azərbaycanca akademik qarşılıqları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069080" cy="1005840"/>
          </a:xfrm>
          <a:prstGeom prst="rect">
            <a:avLst/>
          </a:prstGeom>
          <a:solidFill>
            <a:srgbClr val="000000">
              <a:alpha val="50000"/>
            </a:srgbClr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069080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353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Вина / Guilt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6642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Günahkarlıq hissi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69080" cy="1005840"/>
          </a:xfrm>
          <a:prstGeom prst="rect">
            <a:avLst/>
          </a:prstGeom>
          <a:solidFill>
            <a:srgbClr val="000000">
              <a:alpha val="50000"/>
            </a:srgbClr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88720"/>
            <a:ext cx="4069080" cy="9144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1353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Стыд / Shame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6642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Utanc / Xəcalət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2331720"/>
            <a:ext cx="4069080" cy="1005840"/>
          </a:xfrm>
          <a:prstGeom prst="rect">
            <a:avLst/>
          </a:prstGeom>
          <a:solidFill>
            <a:srgbClr val="000000">
              <a:alpha val="50000"/>
            </a:srgbClr>
          </a:solidFill>
          <a:ln w="19050">
            <a:solidFill>
              <a:srgbClr val="E854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331720"/>
            <a:ext cx="4069080" cy="91440"/>
          </a:xfrm>
          <a:prstGeom prst="rect">
            <a:avLst/>
          </a:prstGeom>
          <a:solidFill>
            <a:srgbClr val="E8543A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2496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Самокритика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" y="28072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Özünütənqid / Özünüqınama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331720"/>
            <a:ext cx="4069080" cy="1005840"/>
          </a:xfrm>
          <a:prstGeom prst="rect">
            <a:avLst/>
          </a:prstGeom>
          <a:solidFill>
            <a:srgbClr val="000000">
              <a:alpha val="50000"/>
            </a:srgbClr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331720"/>
            <a:ext cx="4069080" cy="914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2496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Самосострадание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3168" y="28072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Özünəşəfqət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3474720"/>
            <a:ext cx="4069080" cy="1005840"/>
          </a:xfrm>
          <a:prstGeom prst="rect">
            <a:avLst/>
          </a:prstGeom>
          <a:solidFill>
            <a:srgbClr val="000000">
              <a:alpha val="50000"/>
            </a:srgbClr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474720"/>
            <a:ext cx="4069080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" y="3639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Депрессия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9502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Depressiya / Ruhsuzluq pozuntusu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3474720"/>
            <a:ext cx="4069080" cy="1005840"/>
          </a:xfrm>
          <a:prstGeom prst="rect">
            <a:avLst/>
          </a:prstGeom>
          <a:solidFill>
            <a:srgbClr val="000000">
              <a:alpha val="50000"/>
            </a:srgbClr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474720"/>
            <a:ext cx="4069080" cy="9144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28" name="Text 26"/>
          <p:cNvSpPr/>
          <p:nvPr/>
        </p:nvSpPr>
        <p:spPr>
          <a:xfrm>
            <a:off x="4773168" y="3639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Психосоматика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73168" y="39502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Psixosomatika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0" b="1" kern="0" spc="800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HİSSƏ I</a:t>
            </a:r>
            <a:endParaRPr lang="en-US" sz="7600" dirty="0"/>
          </a:p>
        </p:txBody>
      </p:sp>
      <p:sp>
        <p:nvSpPr>
          <p:cNvPr id="5" name="Shape 3"/>
          <p:cNvSpPr/>
          <p:nvPr/>
        </p:nvSpPr>
        <p:spPr>
          <a:xfrm>
            <a:off x="1371600" y="1874520"/>
            <a:ext cx="64008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933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TARİXİ BAXIŞ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724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İbtidai tabulardan monoteizmə, imperiyadan ailəyə — günahkarlıq stereotiplərinin kökləri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ƏSAS TƏDQİQATÇILAR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Günahkarlıq fenomeninin elmi əsaslarını quran alimlər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069080" cy="1417320"/>
          </a:xfrm>
          <a:prstGeom prst="rect">
            <a:avLst/>
          </a:prstGeom>
          <a:solidFill>
            <a:srgbClr val="000000">
              <a:alpha val="50000"/>
            </a:srgbClr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4069080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075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ZİQMUND FREYD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1856–1939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«Totem və Tabu» (1913): günahkarlıq — sivilizasiyanın memarlıq materialıdır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143000"/>
            <a:ext cx="4069080" cy="1417320"/>
          </a:xfrm>
          <a:prstGeom prst="rect">
            <a:avLst/>
          </a:prstGeom>
          <a:solidFill>
            <a:srgbClr val="000000">
              <a:alpha val="50000"/>
            </a:srgbClr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143000"/>
            <a:ext cx="4069080" cy="9144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3075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 BENEDİKT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600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1887–1948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828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«Xrizantema və Qılınc» (1946): günahkarlıq mədəniyyəti vs. utanc mədəniyyəti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4069080" cy="1417320"/>
          </a:xfrm>
          <a:prstGeom prst="rect">
            <a:avLst/>
          </a:prstGeom>
          <a:solidFill>
            <a:srgbClr val="000000">
              <a:alpha val="50000"/>
            </a:srgbClr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0"/>
            <a:ext cx="4069080" cy="914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9077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C.P. TƏNNİ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200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1958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4290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«Utanc və Günahkarlıq» (2002): günahkarlıq ilə utancın fərqli nəticələri haqqında ilk ciddi empirika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743200"/>
            <a:ext cx="4069080" cy="1417320"/>
          </a:xfrm>
          <a:prstGeom prst="rect">
            <a:avLst/>
          </a:prstGeom>
          <a:solidFill>
            <a:srgbClr val="000000">
              <a:alpha val="50000"/>
            </a:srgbClr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2743200"/>
            <a:ext cx="4069080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9077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BAUMAYSTIR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200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1953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4290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Bulletin (1994): günahkarlıq — şəxsiyyətlərarası sosial fenomendir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GÜNAHKARLIQIN BEŞ ENİŞ SƏVİYYƏSİ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Transsendentdən şəxsiyə — vahid evolyusiyalı sxem: hər səviyyə əvvəlkinin strukturunu təkrarlayır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960120" cy="3657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61288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25880" y="1143000"/>
            <a:ext cx="1417320" cy="3657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161288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SƏVİYYƏ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34640" y="1143000"/>
            <a:ext cx="1737360" cy="3657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116128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MƏNBƏ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2103120" cy="3657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16128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OBYEKTİ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0" y="1143000"/>
            <a:ext cx="2011680" cy="3657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116128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MEXANİZM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554480"/>
            <a:ext cx="960120" cy="557784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" y="1609344"/>
            <a:ext cx="850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5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325880" y="1554480"/>
            <a:ext cx="1417320" cy="557784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19" name="Text 17"/>
          <p:cNvSpPr/>
          <p:nvPr/>
        </p:nvSpPr>
        <p:spPr>
          <a:xfrm>
            <a:off x="1380744" y="1609344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5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İBTİDAİ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834640" y="1554480"/>
            <a:ext cx="1737360" cy="557784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21" name="Text 19"/>
          <p:cNvSpPr/>
          <p:nvPr/>
        </p:nvSpPr>
        <p:spPr>
          <a:xfrm>
            <a:off x="2889504" y="1609344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 pozuntusu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1554480"/>
            <a:ext cx="2103120" cy="557784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23" name="Text 21"/>
          <p:cNvSpPr/>
          <p:nvPr/>
        </p:nvSpPr>
        <p:spPr>
          <a:xfrm>
            <a:off x="4718304" y="160934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Totem / əcdad ruhu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0" y="1554480"/>
            <a:ext cx="2011680" cy="557784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25" name="Text 23"/>
          <p:cNvSpPr/>
          <p:nvPr/>
        </p:nvSpPr>
        <p:spPr>
          <a:xfrm>
            <a:off x="6912864" y="1609344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Kollektiv cəzalandırma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2176272"/>
            <a:ext cx="960120" cy="557784"/>
          </a:xfrm>
          <a:prstGeom prst="rect">
            <a:avLst/>
          </a:prstGeom>
          <a:solidFill>
            <a:srgbClr val="122840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" y="2231136"/>
            <a:ext cx="850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325880" y="2176272"/>
            <a:ext cx="1417320" cy="557784"/>
          </a:xfrm>
          <a:prstGeom prst="rect">
            <a:avLst/>
          </a:prstGeom>
          <a:solidFill>
            <a:srgbClr val="122840"/>
          </a:solidFill>
          <a:ln/>
        </p:spPr>
      </p:sp>
      <p:sp>
        <p:nvSpPr>
          <p:cNvPr id="29" name="Text 27"/>
          <p:cNvSpPr/>
          <p:nvPr/>
        </p:nvSpPr>
        <p:spPr>
          <a:xfrm>
            <a:off x="1380744" y="223113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DİNİ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834640" y="2176272"/>
            <a:ext cx="1737360" cy="557784"/>
          </a:xfrm>
          <a:prstGeom prst="rect">
            <a:avLst/>
          </a:prstGeom>
          <a:solidFill>
            <a:srgbClr val="122840"/>
          </a:solidFill>
          <a:ln/>
        </p:spPr>
      </p:sp>
      <p:sp>
        <p:nvSpPr>
          <p:cNvPr id="31" name="Text 29"/>
          <p:cNvSpPr/>
          <p:nvPr/>
        </p:nvSpPr>
        <p:spPr>
          <a:xfrm>
            <a:off x="2889504" y="2231136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Allaha qarşı günah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2176272"/>
            <a:ext cx="2103120" cy="557784"/>
          </a:xfrm>
          <a:prstGeom prst="rect">
            <a:avLst/>
          </a:prstGeom>
          <a:solidFill>
            <a:srgbClr val="122840"/>
          </a:solidFill>
          <a:ln/>
        </p:spPr>
      </p:sp>
      <p:sp>
        <p:nvSpPr>
          <p:cNvPr id="33" name="Text 31"/>
          <p:cNvSpPr/>
          <p:nvPr/>
        </p:nvSpPr>
        <p:spPr>
          <a:xfrm>
            <a:off x="4718304" y="2231136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Hakim Allah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58000" y="2176272"/>
            <a:ext cx="2011680" cy="557784"/>
          </a:xfrm>
          <a:prstGeom prst="rect">
            <a:avLst/>
          </a:prstGeom>
          <a:solidFill>
            <a:srgbClr val="122840"/>
          </a:solidFill>
          <a:ln/>
        </p:spPr>
      </p:sp>
      <p:sp>
        <p:nvSpPr>
          <p:cNvPr id="35" name="Text 33"/>
          <p:cNvSpPr/>
          <p:nvPr/>
        </p:nvSpPr>
        <p:spPr>
          <a:xfrm>
            <a:off x="6912864" y="2231136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Etiraf, kəffarə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2798064"/>
            <a:ext cx="960120" cy="557784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37" name="Text 35"/>
          <p:cNvSpPr/>
          <p:nvPr/>
        </p:nvSpPr>
        <p:spPr>
          <a:xfrm>
            <a:off x="329184" y="2852928"/>
            <a:ext cx="850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1325880" y="2798064"/>
            <a:ext cx="1417320" cy="557784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39" name="Text 37"/>
          <p:cNvSpPr/>
          <p:nvPr/>
        </p:nvSpPr>
        <p:spPr>
          <a:xfrm>
            <a:off x="1380744" y="2852928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SİYASİ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834640" y="2798064"/>
            <a:ext cx="1737360" cy="557784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41" name="Text 39"/>
          <p:cNvSpPr/>
          <p:nvPr/>
        </p:nvSpPr>
        <p:spPr>
          <a:xfrm>
            <a:off x="2889504" y="285292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Qanun pozuntusu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63440" y="2798064"/>
            <a:ext cx="2103120" cy="557784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43" name="Text 41"/>
          <p:cNvSpPr/>
          <p:nvPr/>
        </p:nvSpPr>
        <p:spPr>
          <a:xfrm>
            <a:off x="4718304" y="285292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Hökmdar, imperiya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858000" y="2798064"/>
            <a:ext cx="2011680" cy="557784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45" name="Text 43"/>
          <p:cNvSpPr/>
          <p:nvPr/>
        </p:nvSpPr>
        <p:spPr>
          <a:xfrm>
            <a:off x="6912864" y="285292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Məhkəmə, ictimai rüsvayçılıq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3419856"/>
            <a:ext cx="960120" cy="557784"/>
          </a:xfrm>
          <a:prstGeom prst="rect">
            <a:avLst/>
          </a:prstGeom>
          <a:solidFill>
            <a:srgbClr val="122840"/>
          </a:solidFill>
          <a:ln/>
        </p:spPr>
      </p:sp>
      <p:sp>
        <p:nvSpPr>
          <p:cNvPr id="47" name="Text 45"/>
          <p:cNvSpPr/>
          <p:nvPr/>
        </p:nvSpPr>
        <p:spPr>
          <a:xfrm>
            <a:off x="329184" y="3474720"/>
            <a:ext cx="850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1325880" y="3419856"/>
            <a:ext cx="1417320" cy="557784"/>
          </a:xfrm>
          <a:prstGeom prst="rect">
            <a:avLst/>
          </a:prstGeom>
          <a:solidFill>
            <a:srgbClr val="122840"/>
          </a:solidFill>
          <a:ln/>
        </p:spPr>
      </p:sp>
      <p:sp>
        <p:nvSpPr>
          <p:cNvPr id="49" name="Text 47"/>
          <p:cNvSpPr/>
          <p:nvPr/>
        </p:nvSpPr>
        <p:spPr>
          <a:xfrm>
            <a:off x="1380744" y="3474720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MİLLİ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834640" y="3419856"/>
            <a:ext cx="1737360" cy="557784"/>
          </a:xfrm>
          <a:prstGeom prst="rect">
            <a:avLst/>
          </a:prstGeom>
          <a:solidFill>
            <a:srgbClr val="122840"/>
          </a:solidFill>
          <a:ln/>
        </p:spPr>
      </p:sp>
      <p:sp>
        <p:nvSpPr>
          <p:cNvPr id="51" name="Text 49"/>
          <p:cNvSpPr/>
          <p:nvPr/>
        </p:nvSpPr>
        <p:spPr>
          <a:xfrm>
            <a:off x="2889504" y="347472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Millətə xəyanət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663440" y="3419856"/>
            <a:ext cx="2103120" cy="557784"/>
          </a:xfrm>
          <a:prstGeom prst="rect">
            <a:avLst/>
          </a:prstGeom>
          <a:solidFill>
            <a:srgbClr val="122840"/>
          </a:solidFill>
          <a:ln/>
        </p:spPr>
      </p:sp>
      <p:sp>
        <p:nvSpPr>
          <p:cNvPr id="53" name="Text 51"/>
          <p:cNvSpPr/>
          <p:nvPr/>
        </p:nvSpPr>
        <p:spPr>
          <a:xfrm>
            <a:off x="4718304" y="347472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Xalq, əcdadlar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858000" y="3419856"/>
            <a:ext cx="2011680" cy="557784"/>
          </a:xfrm>
          <a:prstGeom prst="rect">
            <a:avLst/>
          </a:prstGeom>
          <a:solidFill>
            <a:srgbClr val="122840"/>
          </a:solidFill>
          <a:ln/>
        </p:spPr>
      </p:sp>
      <p:sp>
        <p:nvSpPr>
          <p:cNvPr id="55" name="Text 53"/>
          <p:cNvSpPr/>
          <p:nvPr/>
        </p:nvSpPr>
        <p:spPr>
          <a:xfrm>
            <a:off x="6912864" y="347472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Ostrakizm, nəsil ləkəsi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74320" y="4041648"/>
            <a:ext cx="960120" cy="557784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57" name="Text 55"/>
          <p:cNvSpPr/>
          <p:nvPr/>
        </p:nvSpPr>
        <p:spPr>
          <a:xfrm>
            <a:off x="329184" y="4096512"/>
            <a:ext cx="850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1325880" y="4041648"/>
            <a:ext cx="1417320" cy="557784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59" name="Text 57"/>
          <p:cNvSpPr/>
          <p:nvPr/>
        </p:nvSpPr>
        <p:spPr>
          <a:xfrm>
            <a:off x="1380744" y="4096512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AİLƏ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834640" y="4041648"/>
            <a:ext cx="1737360" cy="557784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61" name="Text 59"/>
          <p:cNvSpPr/>
          <p:nvPr/>
        </p:nvSpPr>
        <p:spPr>
          <a:xfrm>
            <a:off x="2889504" y="4096512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Ailə normalarının pozulması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663440" y="4041648"/>
            <a:ext cx="2103120" cy="557784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63" name="Text 61"/>
          <p:cNvSpPr/>
          <p:nvPr/>
        </p:nvSpPr>
        <p:spPr>
          <a:xfrm>
            <a:off x="4718304" y="409651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Valideynlər, nəsil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858000" y="4041648"/>
            <a:ext cx="2011680" cy="557784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65" name="Text 63"/>
          <p:cNvSpPr/>
          <p:nvPr/>
        </p:nvSpPr>
        <p:spPr>
          <a:xfrm>
            <a:off x="6912864" y="409651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Emosional manipulyasiya, təcrid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səviyyə əvvəlkinin strukturunu təkrarlayır — yalnız miqyas və personajlar dəyişir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MONOTEİZM VƏ GÜNAH: ÜÇ SİSTEM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Günah anlayışının prinsipcə fərqli yanaşmaları — psixoloji nəticələri müxtəlifdir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43200" cy="3767328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2743200" cy="384048"/>
          </a:xfrm>
          <a:prstGeom prst="rect">
            <a:avLst/>
          </a:prstGeom>
          <a:solidFill>
            <a:srgbClr val="D4A017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5214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YƏHUDİLİK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645920"/>
            <a:ext cx="201168" cy="2011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645920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günah konsepsiyası yoxdur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377440"/>
            <a:ext cx="201168" cy="2011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377440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Günahkarlıq — fərdi və düzəldilə biləndir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3108960"/>
            <a:ext cx="201168" cy="2011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108960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Kəffarə: tövbə + dua + yaxşı işlər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840480"/>
            <a:ext cx="201168" cy="2011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840480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Yom Kippur — günahkarlıqla sistemli iş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54680" y="1115568"/>
            <a:ext cx="2743200" cy="3767328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1E90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1115568"/>
            <a:ext cx="2743200" cy="384048"/>
          </a:xfrm>
          <a:prstGeom prst="rect">
            <a:avLst/>
          </a:prstGeom>
          <a:solidFill>
            <a:srgbClr val="1E90FF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115214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XRİSTİANLIQ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64408" y="1645920"/>
            <a:ext cx="201168" cy="201168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21" name="Text 19"/>
          <p:cNvSpPr/>
          <p:nvPr/>
        </p:nvSpPr>
        <p:spPr>
          <a:xfrm>
            <a:off x="3538728" y="1645920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günah — bütün nəsillərə miras qalır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64408" y="2377440"/>
            <a:ext cx="201168" cy="201168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23" name="Text 21"/>
          <p:cNvSpPr/>
          <p:nvPr/>
        </p:nvSpPr>
        <p:spPr>
          <a:xfrm>
            <a:off x="3538728" y="2377440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Günahkarlıq — insanın ontoloji vəziyyəti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4408" y="3108960"/>
            <a:ext cx="201168" cy="201168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25" name="Text 23"/>
          <p:cNvSpPr/>
          <p:nvPr/>
        </p:nvSpPr>
        <p:spPr>
          <a:xfrm>
            <a:off x="3538728" y="3108960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«İnsan olduğun üçün günahkarsаn»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64408" y="3840480"/>
            <a:ext cx="201168" cy="201168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27" name="Text 25"/>
          <p:cNvSpPr/>
          <p:nvPr/>
        </p:nvSpPr>
        <p:spPr>
          <a:xfrm>
            <a:off x="3538728" y="3840480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Etiraf — borcun simvolik ödənməsi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1115568"/>
            <a:ext cx="2743200" cy="3767328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1115568"/>
            <a:ext cx="2743200" cy="384048"/>
          </a:xfrm>
          <a:prstGeom prst="rect">
            <a:avLst/>
          </a:prstGeom>
          <a:solidFill>
            <a:srgbClr val="2E8B57">
              <a:alpha val="9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15214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İSLAM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44768" y="1645920"/>
            <a:ext cx="201168" cy="20116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2" name="Text 30"/>
          <p:cNvSpPr/>
          <p:nvPr/>
        </p:nvSpPr>
        <p:spPr>
          <a:xfrm>
            <a:off x="6419088" y="1645920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günah yoxdur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44768" y="2377440"/>
            <a:ext cx="201168" cy="20116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4" name="Text 32"/>
          <p:cNvSpPr/>
          <p:nvPr/>
        </p:nvSpPr>
        <p:spPr>
          <a:xfrm>
            <a:off x="6419088" y="2377440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«Fikirdə günah» konsepsiyası yoxdur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44768" y="3108960"/>
            <a:ext cx="201168" cy="20116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6" name="Text 34"/>
          <p:cNvSpPr/>
          <p:nvPr/>
        </p:nvSpPr>
        <p:spPr>
          <a:xfrm>
            <a:off x="6419088" y="3108960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«Hər nəfs öz qazandığının girovudur» (Quran 74:38)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44768" y="3840480"/>
            <a:ext cx="201168" cy="20116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8" name="Text 36"/>
          <p:cNvSpPr/>
          <p:nvPr/>
        </p:nvSpPr>
        <p:spPr>
          <a:xfrm>
            <a:off x="6419088" y="3840480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Günahkarlıq konkretdir, miras qalmır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kern="0" spc="800" dirty="0">
                <a:solidFill>
                  <a:srgbClr val="1E90FF"/>
                </a:solidFill>
                <a:latin typeface="Arial" panose="020B0604020202020204" pitchFamily="34" charset="0"/>
                <a:ea typeface="Arial Black" pitchFamily="34" charset="-122"/>
                <a:cs typeface="Arial" panose="020B0604020202020204" pitchFamily="34" charset="0"/>
              </a:rPr>
              <a:t>HİSSƏ II</a:t>
            </a:r>
            <a:endParaRPr lang="en-US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371600" y="1874520"/>
            <a:ext cx="6400800" cy="54864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933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NƏTİCƏLƏR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2724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PSİXOLOJİ  •  SOSİAL  •  PSİXOSOMATİK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«GÜNƏŞ MİFİ»NİN DAĞIDILMASI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Verilər intuisiyaya zidd çıxır: çox günəş ≠ az depressiya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057400" cy="32918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612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Ölkə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3160" y="1143000"/>
            <a:ext cx="1600200" cy="32918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16128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Günəş/il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0" y="1143000"/>
            <a:ext cx="1554480" cy="32918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11612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Depressiya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1143000"/>
            <a:ext cx="1737360" cy="32918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11612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İntihar/100min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499616"/>
            <a:ext cx="2057400" cy="438912"/>
          </a:xfrm>
          <a:prstGeom prst="rect">
            <a:avLst/>
          </a:prstGeom>
          <a:solidFill>
            <a:srgbClr val="2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" y="1545336"/>
            <a:ext cx="1947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Yunanıstan ☀☀☀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423160" y="1499616"/>
            <a:ext cx="1600200" cy="438912"/>
          </a:xfrm>
          <a:prstGeom prst="rect">
            <a:avLst/>
          </a:prstGeom>
          <a:solidFill>
            <a:srgbClr val="2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2478024" y="1545336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2.900 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0" y="1499616"/>
            <a:ext cx="1554480" cy="438912"/>
          </a:xfrm>
          <a:prstGeom prst="rect">
            <a:avLst/>
          </a:prstGeom>
          <a:solidFill>
            <a:srgbClr val="2A0A0A"/>
          </a:solidFill>
          <a:ln/>
        </p:spPr>
      </p:sp>
      <p:sp>
        <p:nvSpPr>
          <p:cNvPr id="19" name="Text 17"/>
          <p:cNvSpPr/>
          <p:nvPr/>
        </p:nvSpPr>
        <p:spPr>
          <a:xfrm>
            <a:off x="4169664" y="1545336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760720" y="1499616"/>
            <a:ext cx="1737360" cy="438912"/>
          </a:xfrm>
          <a:prstGeom prst="rect">
            <a:avLst/>
          </a:prstGeom>
          <a:solidFill>
            <a:srgbClr val="2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5815584" y="154533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2002536"/>
            <a:ext cx="2057400" cy="438912"/>
          </a:xfrm>
          <a:prstGeom prst="rect">
            <a:avLst/>
          </a:prstGeom>
          <a:solidFill>
            <a:srgbClr val="2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" y="2048256"/>
            <a:ext cx="1947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İspaniya ☀☀☀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423160" y="2002536"/>
            <a:ext cx="1600200" cy="438912"/>
          </a:xfrm>
          <a:prstGeom prst="rect">
            <a:avLst/>
          </a:prstGeom>
          <a:solidFill>
            <a:srgbClr val="2A0A0A"/>
          </a:solidFill>
          <a:ln/>
        </p:spPr>
      </p:sp>
      <p:sp>
        <p:nvSpPr>
          <p:cNvPr id="25" name="Text 23"/>
          <p:cNvSpPr/>
          <p:nvPr/>
        </p:nvSpPr>
        <p:spPr>
          <a:xfrm>
            <a:off x="2478024" y="2048256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2.700 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14800" y="2002536"/>
            <a:ext cx="1554480" cy="438912"/>
          </a:xfrm>
          <a:prstGeom prst="rect">
            <a:avLst/>
          </a:prstGeom>
          <a:solidFill>
            <a:srgbClr val="2A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4169664" y="2048256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760720" y="2002536"/>
            <a:ext cx="1737360" cy="438912"/>
          </a:xfrm>
          <a:prstGeom prst="rect">
            <a:avLst/>
          </a:prstGeom>
          <a:solidFill>
            <a:srgbClr val="2A0A0A"/>
          </a:solidFill>
          <a:ln/>
        </p:spPr>
      </p:sp>
      <p:sp>
        <p:nvSpPr>
          <p:cNvPr id="29" name="Text 27"/>
          <p:cNvSpPr/>
          <p:nvPr/>
        </p:nvSpPr>
        <p:spPr>
          <a:xfrm>
            <a:off x="5815584" y="204825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2505456"/>
            <a:ext cx="2057400" cy="438912"/>
          </a:xfrm>
          <a:prstGeom prst="rect">
            <a:avLst/>
          </a:prstGeom>
          <a:solidFill>
            <a:srgbClr val="2A0A0A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2551176"/>
            <a:ext cx="1947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Cən. Koreya ☀☀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423160" y="2505456"/>
            <a:ext cx="1600200" cy="438912"/>
          </a:xfrm>
          <a:prstGeom prst="rect">
            <a:avLst/>
          </a:prstGeom>
          <a:solidFill>
            <a:srgbClr val="2A0A0A"/>
          </a:solidFill>
          <a:ln/>
        </p:spPr>
      </p:sp>
      <p:sp>
        <p:nvSpPr>
          <p:cNvPr id="33" name="Text 31"/>
          <p:cNvSpPr/>
          <p:nvPr/>
        </p:nvSpPr>
        <p:spPr>
          <a:xfrm>
            <a:off x="2478024" y="2551176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2.066 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114800" y="2505456"/>
            <a:ext cx="1554480" cy="438912"/>
          </a:xfrm>
          <a:prstGeom prst="rect">
            <a:avLst/>
          </a:prstGeom>
          <a:solidFill>
            <a:srgbClr val="2A0A0A"/>
          </a:solidFill>
          <a:ln/>
        </p:spPr>
      </p:sp>
      <p:sp>
        <p:nvSpPr>
          <p:cNvPr id="35" name="Text 33"/>
          <p:cNvSpPr/>
          <p:nvPr/>
        </p:nvSpPr>
        <p:spPr>
          <a:xfrm>
            <a:off x="4169664" y="2551176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760720" y="2505456"/>
            <a:ext cx="1737360" cy="438912"/>
          </a:xfrm>
          <a:prstGeom prst="rect">
            <a:avLst/>
          </a:prstGeom>
          <a:solidFill>
            <a:srgbClr val="2A0A0A"/>
          </a:solidFill>
          <a:ln/>
        </p:spPr>
      </p:sp>
      <p:sp>
        <p:nvSpPr>
          <p:cNvPr id="37" name="Text 35"/>
          <p:cNvSpPr/>
          <p:nvPr/>
        </p:nvSpPr>
        <p:spPr>
          <a:xfrm>
            <a:off x="5815584" y="255117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22,6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74320" y="3008376"/>
            <a:ext cx="2057400" cy="438912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39" name="Text 37"/>
          <p:cNvSpPr/>
          <p:nvPr/>
        </p:nvSpPr>
        <p:spPr>
          <a:xfrm>
            <a:off x="329184" y="3054096"/>
            <a:ext cx="1947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Yaponiya ☀☀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423160" y="3008376"/>
            <a:ext cx="1600200" cy="438912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41" name="Text 39"/>
          <p:cNvSpPr/>
          <p:nvPr/>
        </p:nvSpPr>
        <p:spPr>
          <a:xfrm>
            <a:off x="2478024" y="3054096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1.900 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114800" y="3008376"/>
            <a:ext cx="1554480" cy="438912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43" name="Text 41"/>
          <p:cNvSpPr/>
          <p:nvPr/>
        </p:nvSpPr>
        <p:spPr>
          <a:xfrm>
            <a:off x="4169664" y="3054096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3,0%*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760720" y="3008376"/>
            <a:ext cx="1737360" cy="438912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45" name="Text 43"/>
          <p:cNvSpPr/>
          <p:nvPr/>
        </p:nvSpPr>
        <p:spPr>
          <a:xfrm>
            <a:off x="5815584" y="305409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74320" y="3511296"/>
            <a:ext cx="2057400" cy="438912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47" name="Text 45"/>
          <p:cNvSpPr/>
          <p:nvPr/>
        </p:nvSpPr>
        <p:spPr>
          <a:xfrm>
            <a:off x="329184" y="3557016"/>
            <a:ext cx="1947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İslandiya ❄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423160" y="3511296"/>
            <a:ext cx="1600200" cy="438912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49" name="Text 47"/>
          <p:cNvSpPr/>
          <p:nvPr/>
        </p:nvSpPr>
        <p:spPr>
          <a:xfrm>
            <a:off x="2478024" y="3557016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1.300 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114800" y="3511296"/>
            <a:ext cx="1554480" cy="438912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51" name="Text 49"/>
          <p:cNvSpPr/>
          <p:nvPr/>
        </p:nvSpPr>
        <p:spPr>
          <a:xfrm>
            <a:off x="4169664" y="3557016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3,8%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60720" y="3511296"/>
            <a:ext cx="1737360" cy="438912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53" name="Text 51"/>
          <p:cNvSpPr/>
          <p:nvPr/>
        </p:nvSpPr>
        <p:spPr>
          <a:xfrm>
            <a:off x="5815584" y="355701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74320" y="4014216"/>
            <a:ext cx="2057400" cy="438912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55" name="Text 53"/>
          <p:cNvSpPr/>
          <p:nvPr/>
        </p:nvSpPr>
        <p:spPr>
          <a:xfrm>
            <a:off x="329184" y="4059936"/>
            <a:ext cx="1947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Norveç ❄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423160" y="4014216"/>
            <a:ext cx="1600200" cy="438912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57" name="Text 55"/>
          <p:cNvSpPr/>
          <p:nvPr/>
        </p:nvSpPr>
        <p:spPr>
          <a:xfrm>
            <a:off x="2478024" y="4059936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1.750 s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114800" y="4014216"/>
            <a:ext cx="1554480" cy="438912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59" name="Text 57"/>
          <p:cNvSpPr/>
          <p:nvPr/>
        </p:nvSpPr>
        <p:spPr>
          <a:xfrm>
            <a:off x="4169664" y="4059936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3,9%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760720" y="4014216"/>
            <a:ext cx="1737360" cy="438912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61" name="Text 59"/>
          <p:cNvSpPr/>
          <p:nvPr/>
        </p:nvSpPr>
        <p:spPr>
          <a:xfrm>
            <a:off x="5815584" y="405993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7680960" y="1051560"/>
            <a:ext cx="1389888" cy="3840480"/>
          </a:xfrm>
          <a:prstGeom prst="rect">
            <a:avLst/>
          </a:prstGeom>
          <a:solidFill>
            <a:srgbClr val="000000">
              <a:alpha val="45000"/>
            </a:srgbClr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26680" y="1170708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NƏTİCƏ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7726680" y="1463040"/>
            <a:ext cx="134416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Avropanın ən günəşli ölkələri — Yunanıstan, İspaniya — depressiyada liderdir. </a:t>
            </a:r>
            <a:endParaRPr lang="ru-RU" sz="1100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100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Günəş</a:t>
            </a: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saatları depressiya </a:t>
            </a:r>
            <a:r>
              <a:rPr lang="en-US" sz="1100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səviyyəsini</a:t>
            </a: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proqnozlaşdırmır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DEPRESSİYA: DÜNYA STATİSTİKASI 2025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Mənbə: IHME GBD 2023, ÜST 2025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920240" cy="1600200"/>
          </a:xfrm>
          <a:prstGeom prst="rect">
            <a:avLst/>
          </a:prstGeom>
          <a:solidFill>
            <a:srgbClr val="000000">
              <a:alpha val="50000"/>
            </a:srgbClr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1920240" cy="1097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5377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MLN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4048" y="1965960"/>
            <a:ext cx="1700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DÜNYADA DEPRESSİYADAN ƏZİYYƏT ÇƏKƏN (2025)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31720" y="1143000"/>
            <a:ext cx="1920240" cy="1600200"/>
          </a:xfrm>
          <a:prstGeom prst="rect">
            <a:avLst/>
          </a:prstGeom>
          <a:solidFill>
            <a:srgbClr val="000000">
              <a:alpha val="50000"/>
            </a:srgbClr>
          </a:solidFill>
          <a:ln w="25400">
            <a:solidFill>
              <a:srgbClr val="E854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1143000"/>
            <a:ext cx="1920240" cy="109728"/>
          </a:xfrm>
          <a:prstGeom prst="rect">
            <a:avLst/>
          </a:prstGeom>
          <a:solidFill>
            <a:srgbClr val="E8543A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30759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41448" y="1965960"/>
            <a:ext cx="1700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İL ƏRZİNDƏ ARTIŞ (əhali yalnız +46%)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1143000"/>
            <a:ext cx="1920240" cy="1600200"/>
          </a:xfrm>
          <a:prstGeom prst="rect">
            <a:avLst/>
          </a:prstGeom>
          <a:solidFill>
            <a:srgbClr val="000000">
              <a:alpha val="50000"/>
            </a:srgbClr>
          </a:solidFill>
          <a:ln w="25400">
            <a:solidFill>
              <a:srgbClr val="1E90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1143000"/>
            <a:ext cx="1920240" cy="109728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30759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498848" y="1965960"/>
            <a:ext cx="1700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CƏNUBİ KOREYAda 100 MİN NƏFƏRƏ İNTİHAR (ƏƏİT lideri)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46520" y="1143000"/>
            <a:ext cx="2468880" cy="1600200"/>
          </a:xfrm>
          <a:prstGeom prst="rect">
            <a:avLst/>
          </a:prstGeom>
          <a:solidFill>
            <a:srgbClr val="000000">
              <a:alpha val="50000"/>
            </a:srgbClr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143000"/>
            <a:ext cx="2468880" cy="10972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30759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76-85%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56248" y="1965960"/>
            <a:ext cx="22494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AŞAĞı GƏLİRLİ ÖLKƏLƏRDƏKİ XƏSTƏLƏR MÜALİCƏ ALMADI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8595360" cy="109728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926080"/>
            <a:ext cx="91440" cy="10972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999232"/>
            <a:ext cx="8321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“35 il ərzində depressiya 75% artdı, əhali isə yalnız 46%. Bioloji amil bu qısa müddətdə bu qədər dəyişə bilməzdi. Deməli, məsələ sosial-psixoloji amillərdədir.”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BİOLOJİ VƏ PSİXOLOJİ AMİLLƏR: FƏRQ NƏDİR?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Depressiyanı həqiqətən nə proqnozlaşdırır? Müqayisəli analiz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53035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887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Günəş saatları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337560" y="11887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Bioloji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52728"/>
            <a:ext cx="4343400" cy="256032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252728"/>
            <a:ext cx="781812" cy="256032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252728"/>
            <a:ext cx="6903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Zəif / tərsinə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728216"/>
            <a:ext cx="8595360" cy="53035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80136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vitamini çatışmazlığı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37560" y="180136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Bioloji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865376"/>
            <a:ext cx="4343400" cy="256032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1865376"/>
            <a:ext cx="1389888" cy="256032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86537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 (~10%)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340864"/>
            <a:ext cx="8595360" cy="53035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41401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Genetik meyillilik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37560" y="241401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Bioloji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478024"/>
            <a:ext cx="4343400" cy="256032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2478024"/>
            <a:ext cx="1650492" cy="256032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478024"/>
            <a:ext cx="15590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 (35–40%)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953512"/>
            <a:ext cx="8595360" cy="53035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02666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Utanc mədəniyyəti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37560" y="302666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Psixoloji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090672"/>
            <a:ext cx="4343400" cy="256032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3090672"/>
            <a:ext cx="3474720" cy="2560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30906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GÜCLÜ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566160"/>
            <a:ext cx="8595360" cy="53035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63931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Psixi pozuntuların damğalanması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337560" y="363931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Sosial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703320"/>
            <a:ext cx="4343400" cy="256032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4" name="Shape 32"/>
          <p:cNvSpPr/>
          <p:nvPr/>
        </p:nvSpPr>
        <p:spPr>
          <a:xfrm>
            <a:off x="4663440" y="3703320"/>
            <a:ext cx="3822192" cy="256032"/>
          </a:xfrm>
          <a:prstGeom prst="rect">
            <a:avLst/>
          </a:prstGeom>
          <a:solidFill>
            <a:srgbClr val="E8543A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3703320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ÇOX GÜCLÜ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178808"/>
            <a:ext cx="8595360" cy="53035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42519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Nəsillər arası travma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337560" y="42519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Psixoloji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4315968"/>
            <a:ext cx="4343400" cy="256032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40" name="Shape 38"/>
          <p:cNvSpPr/>
          <p:nvPr/>
        </p:nvSpPr>
        <p:spPr>
          <a:xfrm>
            <a:off x="4663440" y="4315968"/>
            <a:ext cx="3300984" cy="2560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4315968"/>
            <a:ext cx="3209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GÜCLÜ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54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543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PSİXOSOMATİK NƏTİCƏLƏR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Mexanizm: xronik günahkarlıq → HPA oxu → kortizol → sistemli iltihablanma → xəstəliklər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658368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15568"/>
            <a:ext cx="91440" cy="658368"/>
          </a:xfrm>
          <a:prstGeom prst="rect">
            <a:avLst/>
          </a:prstGeom>
          <a:solidFill>
            <a:srgbClr val="E8543A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17043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Mədə-bağırsaq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40280" y="117043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Xora, TaBP, İBX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937760" y="11704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Kortizol → selikli qişanın iltihabı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865376"/>
            <a:ext cx="8595360" cy="658368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1865376"/>
            <a:ext cx="91440" cy="6583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92024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Ürək-damar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19202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Hipertoniya, infarkt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Xronik simpatik aktivasiya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615184"/>
            <a:ext cx="8595360" cy="658368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615184"/>
            <a:ext cx="91440" cy="658368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67004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İmmun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26700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 xəstəliklər, psoriaz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37760" y="26700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Sitokinlərin disfunksiyası, IL-6↑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364992"/>
            <a:ext cx="8595360" cy="658368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364992"/>
            <a:ext cx="91440" cy="65836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341985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Endokrin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40280" y="341985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2-ci tip diabet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37760" y="341985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Xronik kortizol artımı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114800"/>
            <a:ext cx="8595360" cy="658368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4114800"/>
            <a:ext cx="91440" cy="658368"/>
          </a:xfrm>
          <a:prstGeom prst="rect">
            <a:avLst/>
          </a:prstGeom>
          <a:solidFill>
            <a:srgbClr val="E8543A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416966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Nevroloji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40280" y="416966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Miqren, yuxusuzluq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37760" y="416966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Mərkəzi sinir sisteminin hiperaktivliyi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4320" y="482803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2025  •  Cleveland Clinic  •  Journal of Psychosomatic Research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kern="0" spc="800" dirty="0">
                <a:solidFill>
                  <a:srgbClr val="2E8B57"/>
                </a:solidFill>
                <a:latin typeface="Arial" panose="020B0604020202020204" pitchFamily="34" charset="0"/>
                <a:ea typeface="Arial Black" pitchFamily="34" charset="-122"/>
                <a:cs typeface="Arial" panose="020B0604020202020204" pitchFamily="34" charset="0"/>
              </a:rPr>
              <a:t>HİSSƏ III</a:t>
            </a:r>
            <a:endParaRPr lang="en-US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371600" y="1874520"/>
            <a:ext cx="6400800" cy="5486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933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SAĞALMA YOLLARI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2724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GÜNAH KEÇİSİNDƏN ÖZÜNƏŞƏFQƏTİN NEVROLOJİ ELMİNƏ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TARİXİ METODLAR: EFFEKTİVLİK QİYMƏTLƏNDİRMƏSİ</a:t>
            </a:r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9875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Dövr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987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Qısa müddət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0" y="9875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Uzun müddət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8595360" cy="3657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325880"/>
            <a:ext cx="73152" cy="548640"/>
          </a:xfrm>
          <a:prstGeom prst="rect">
            <a:avLst/>
          </a:prstGeom>
          <a:solidFill>
            <a:srgbClr val="E8543A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Günah keçisi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26080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Qədimlər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5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4944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5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○○○○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320" y="1938528"/>
            <a:ext cx="8595360" cy="548640"/>
          </a:xfrm>
          <a:prstGeom prst="rect">
            <a:avLst/>
          </a:prstGeom>
          <a:solidFill>
            <a:srgbClr val="122840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1938528"/>
            <a:ext cx="73152" cy="548640"/>
          </a:xfrm>
          <a:prstGeom prst="rect">
            <a:avLst/>
          </a:prstGeom>
          <a:solidFill>
            <a:srgbClr val="E8543A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0299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Özünüəziyyət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26080" y="2029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əsrlər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0299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5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●●○○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49440" y="2029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5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✗✗✗✗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74320" y="2551176"/>
            <a:ext cx="8595360" cy="548640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2551176"/>
            <a:ext cx="73152" cy="54864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6426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İndulqensiya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926080" y="264261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XII–XIX əsr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26426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5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●●●○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264261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5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○○○○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74320" y="3163824"/>
            <a:ext cx="8595360" cy="548640"/>
          </a:xfrm>
          <a:prstGeom prst="rect">
            <a:avLst/>
          </a:prstGeom>
          <a:solidFill>
            <a:srgbClr val="122840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3163824"/>
            <a:ext cx="73152" cy="5486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2552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Etiraf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926080" y="325526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əsr–bu gün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32552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●●●○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49440" y="325526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5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●○○○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74320" y="3776472"/>
            <a:ext cx="8595360" cy="548640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3776472"/>
            <a:ext cx="73152" cy="5486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8679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2926080" y="38679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1960-cılar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38679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●●●●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949440" y="38679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●●●●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74320" y="4389120"/>
            <a:ext cx="8595360" cy="548640"/>
          </a:xfrm>
          <a:prstGeom prst="rect">
            <a:avLst/>
          </a:prstGeom>
          <a:solidFill>
            <a:srgbClr val="122840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4389120"/>
            <a:ext cx="73152" cy="5486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Özünəşəfqət CFT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2926080" y="4480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2000-ci illər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●●●●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949440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●●●●●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1077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ÖZÜNƏŞƏFQƏTİ TERAPİYASI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Kristin Neff (Texas Univ.) və Pol Gilbert (Derby Univ.) — ən effektiv müasir yanaşma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123444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91440" cy="1234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832104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“Son vaxtlar törədikləri bir günahla bağlı özünə şəfqətlə yanaşmağa kömək edilən insanlar, nəzarət qrupuna nisbətən zərəri bərpa etmək üçün daha çox, davranışı təkrarlamamaq üçün daha çox motivasiya bildirdi.”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7568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K. Neff, Annual Review of Psychology, 2023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8595360" cy="7132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2514600"/>
            <a:ext cx="91440" cy="71323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560320"/>
            <a:ext cx="3266237" cy="328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ÖZÜNƏŞƏFQƏTİ ≠ ZƏİFLİK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84371" y="2569464"/>
            <a:ext cx="4813402" cy="627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 davranışın qəbuluna gətirib çıxarmır. Özünəşəfqəti yüksək insanlar məsuliyyət daşımağa daha çox meyllidir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319272"/>
            <a:ext cx="8595360" cy="7132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3319272"/>
            <a:ext cx="91440" cy="71323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3364992"/>
            <a:ext cx="3266237" cy="328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FİZİOLOJİ EFFEKTİ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84371" y="3374136"/>
            <a:ext cx="4813402" cy="627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Kortizol azalır, ürək döyüntüsünün dəyişkənliyi yaxşılaşır — sözün hərfi mənasında stressin bioloji göstəricilərini azaldır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123944"/>
            <a:ext cx="8595360" cy="7132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4123944"/>
            <a:ext cx="91440" cy="71323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4169664"/>
            <a:ext cx="3266237" cy="328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XƏBƏRDARLIQ — «ƏKSTƏSIR»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84371" y="4178808"/>
            <a:ext cx="4813402" cy="627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Xronik özünüqınamaya alışan insanlarda ilk özünəşəfqət cəhdi ağrılı ola bilər — bu transformasiyasiyonun normal hissəsidir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PROFİLAKTİKA: TƏRBİYƏ VƏ İŞ MÜHİTİ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Patoloji günahkarlığın qarşısının alınmasında üç sübut əsaslı prinsip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3749040"/>
          </a:xfrm>
          <a:prstGeom prst="rect">
            <a:avLst/>
          </a:prstGeom>
          <a:solidFill>
            <a:srgbClr val="000000">
              <a:alpha val="48000"/>
            </a:srgbClr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TƏRBİYƏDƏ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581912"/>
            <a:ext cx="36576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«Sən pisсən!»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Utanc: «mən pisəm»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4505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«Sən pis iş gördün»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249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Məhsuldar günahkarlıq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1821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Bərpaedici intizam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56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-38% kənarlaşdırma (WestEd 2019)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913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Emosional savadlılıq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87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Adlandırmaq = amiqdalanın aktivliyini azaltmaq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1143000"/>
            <a:ext cx="4160520" cy="3749040"/>
          </a:xfrm>
          <a:prstGeom prst="rect">
            <a:avLst/>
          </a:prstGeom>
          <a:solidFill>
            <a:srgbClr val="000000">
              <a:alpha val="48000"/>
            </a:srgbClr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3444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 MÜHİTİNDƏ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581912"/>
            <a:ext cx="3657600" cy="36576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719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Günahsız mədəniyyət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Açıq etiraf = gizlədilmiş xəta -30–40%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2450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Post-Mortem (Google)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724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«Nə baş verdi? Necə önləmək olar?»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3182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Mən-ifadəsi (I-statement)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456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«Sən məni məyus etdin» → «Mən X hiss edirəm»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3913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Prospektif diqqət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4187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«Necə düzəltmək olar?» vs «Niyə belə oldu?»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536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ÖZÜNÜBAĞIŞLAMA: 5 ADDIM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sistematik icmalı 2024: özünübağışlama sağlamlığı və rifahı yaxşılaşdırır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572768" cy="3657600"/>
          </a:xfrm>
          <a:prstGeom prst="rect">
            <a:avLst/>
          </a:prstGeom>
          <a:solidFill>
            <a:srgbClr val="000000">
              <a:alpha val="52000"/>
            </a:srgbClr>
          </a:solidFill>
          <a:ln w="25400">
            <a:solidFill>
              <a:srgbClr val="1E9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34440"/>
            <a:ext cx="1572768" cy="9144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389888"/>
            <a:ext cx="1572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1298448" cy="4572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148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ETİRAF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679192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Günahkarlıq hissini inkar etmədən qəbul 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75104" y="1234440"/>
            <a:ext cx="1572768" cy="3657600"/>
          </a:xfrm>
          <a:prstGeom prst="rect">
            <a:avLst/>
          </a:prstGeom>
          <a:solidFill>
            <a:srgbClr val="000000">
              <a:alpha val="52000"/>
            </a:srgbClr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75104" y="1234440"/>
            <a:ext cx="1572768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1975104" y="1389888"/>
            <a:ext cx="1572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2112264" y="2057400"/>
            <a:ext cx="1298448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1975104" y="2148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ANLAMA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66544" y="2679192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Hissin mənbəyini və əsaslılığını analiz 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75888" y="1234440"/>
            <a:ext cx="1572768" cy="3657600"/>
          </a:xfrm>
          <a:prstGeom prst="rect">
            <a:avLst/>
          </a:prstGeom>
          <a:solidFill>
            <a:srgbClr val="000000">
              <a:alpha val="52000"/>
            </a:srgbClr>
          </a:solidFill>
          <a:ln w="25400">
            <a:solidFill>
              <a:srgbClr val="E854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75888" y="1234440"/>
            <a:ext cx="1572768" cy="91440"/>
          </a:xfrm>
          <a:prstGeom prst="rect">
            <a:avLst/>
          </a:prstGeom>
          <a:solidFill>
            <a:srgbClr val="E8543A"/>
          </a:solidFill>
          <a:ln/>
        </p:spPr>
      </p:sp>
      <p:sp>
        <p:nvSpPr>
          <p:cNvPr id="20" name="Text 18"/>
          <p:cNvSpPr/>
          <p:nvPr/>
        </p:nvSpPr>
        <p:spPr>
          <a:xfrm>
            <a:off x="3675888" y="1389888"/>
            <a:ext cx="1572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54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3813048" y="2057400"/>
            <a:ext cx="1298448" cy="45720"/>
          </a:xfrm>
          <a:prstGeom prst="rect">
            <a:avLst/>
          </a:prstGeom>
          <a:solidFill>
            <a:srgbClr val="E8543A"/>
          </a:solidFill>
          <a:ln/>
        </p:spPr>
      </p:sp>
      <p:sp>
        <p:nvSpPr>
          <p:cNvPr id="22" name="Text 20"/>
          <p:cNvSpPr/>
          <p:nvPr/>
        </p:nvSpPr>
        <p:spPr>
          <a:xfrm>
            <a:off x="3675888" y="2148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MƏSULİYYƏT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67328" y="2679192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Reallığı qəbul et: davranışı şəxsiyyətdən ayır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76672" y="1234440"/>
            <a:ext cx="1572768" cy="3657600"/>
          </a:xfrm>
          <a:prstGeom prst="rect">
            <a:avLst/>
          </a:prstGeom>
          <a:solidFill>
            <a:srgbClr val="000000">
              <a:alpha val="52000"/>
            </a:srgbClr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76672" y="1234440"/>
            <a:ext cx="1572768" cy="914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6" name="Text 24"/>
          <p:cNvSpPr/>
          <p:nvPr/>
        </p:nvSpPr>
        <p:spPr>
          <a:xfrm>
            <a:off x="5376672" y="1389888"/>
            <a:ext cx="1572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8B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400" dirty="0"/>
          </a:p>
        </p:txBody>
      </p:sp>
      <p:sp>
        <p:nvSpPr>
          <p:cNvPr id="27" name="Shape 25"/>
          <p:cNvSpPr/>
          <p:nvPr/>
        </p:nvSpPr>
        <p:spPr>
          <a:xfrm>
            <a:off x="5513832" y="2057400"/>
            <a:ext cx="1298448" cy="45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8" name="Text 26"/>
          <p:cNvSpPr/>
          <p:nvPr/>
        </p:nvSpPr>
        <p:spPr>
          <a:xfrm>
            <a:off x="5376672" y="2148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BƏRPA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68112" y="2679192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Mümkünsə zərəri aradan qaldır, üzr istə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77456" y="1234440"/>
            <a:ext cx="1572768" cy="3657600"/>
          </a:xfrm>
          <a:prstGeom prst="rect">
            <a:avLst/>
          </a:prstGeom>
          <a:solidFill>
            <a:srgbClr val="000000">
              <a:alpha val="52000"/>
            </a:srgbClr>
          </a:solidFill>
          <a:ln w="25400">
            <a:solidFill>
              <a:srgbClr val="1E90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77456" y="1234440"/>
            <a:ext cx="1572768" cy="9144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2" name="Text 30"/>
          <p:cNvSpPr/>
          <p:nvPr/>
        </p:nvSpPr>
        <p:spPr>
          <a:xfrm>
            <a:off x="7077456" y="1389888"/>
            <a:ext cx="1572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400" dirty="0"/>
          </a:p>
        </p:txBody>
      </p:sp>
      <p:sp>
        <p:nvSpPr>
          <p:cNvPr id="33" name="Shape 31"/>
          <p:cNvSpPr/>
          <p:nvPr/>
        </p:nvSpPr>
        <p:spPr>
          <a:xfrm>
            <a:off x="7214616" y="2057400"/>
            <a:ext cx="1298448" cy="4572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4" name="Text 32"/>
          <p:cNvSpPr/>
          <p:nvPr/>
        </p:nvSpPr>
        <p:spPr>
          <a:xfrm>
            <a:off x="7077456" y="2148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AZADLIQ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68896" y="2679192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Özünü bağışlamağa icazə ver — bu zəiflik deyil, cəsarətdir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8466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ƏSAS ÇIXARIŞLAR</a:t>
            </a:r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822960"/>
          </a:xfrm>
          <a:prstGeom prst="rect">
            <a:avLst/>
          </a:prstGeom>
          <a:solidFill>
            <a:srgbClr val="000000">
              <a:alpha val="45000"/>
            </a:srgbClr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43584"/>
            <a:ext cx="502920" cy="502920"/>
          </a:xfrm>
          <a:prstGeom prst="line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243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113385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Günahkarlıq xəstəlik deyil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481328"/>
            <a:ext cx="7754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Sosial təşkilatın əsas mexanizmidir. Problem günahkarlıqda yox — onu istismar edən sistemlərdədir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039112"/>
            <a:ext cx="8595360" cy="822960"/>
          </a:xfrm>
          <a:prstGeom prst="rect">
            <a:avLst/>
          </a:prstGeom>
          <a:solidFill>
            <a:srgbClr val="000000">
              <a:alpha val="45000"/>
            </a:srgbClr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203704"/>
            <a:ext cx="502920" cy="502920"/>
          </a:xfrm>
          <a:prstGeom prst="line">
            <a:avLst/>
          </a:prstGeom>
          <a:solidFill>
            <a:srgbClr val="1E90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2203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7552" y="209397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«Mən pisəm» vs «Mən pis iş gördüm»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2441448"/>
            <a:ext cx="7754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Utanc dağıdır. Məhsuldar günahkarlıq məsuliyyətə və düzəltməyə aparır — bu əsas ayrımdır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999232"/>
            <a:ext cx="8595360" cy="822960"/>
          </a:xfrm>
          <a:prstGeom prst="rect">
            <a:avLst/>
          </a:prstGeom>
          <a:solidFill>
            <a:srgbClr val="000000">
              <a:alpha val="45000"/>
            </a:srgbClr>
          </a:solidFill>
          <a:ln w="19050">
            <a:solidFill>
              <a:srgbClr val="E854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163824"/>
            <a:ext cx="502920" cy="502920"/>
          </a:xfrm>
          <a:prstGeom prst="line">
            <a:avLst/>
          </a:prstGeom>
          <a:solidFill>
            <a:srgbClr val="E8543A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163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87552" y="305409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Günəş qorumur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3401568"/>
            <a:ext cx="7754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Günahkarlıq mədəniyyəti depressiyanı iqlim, genetika və D vitaminindən daha yaxşı proqnozlaşdırır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959352"/>
            <a:ext cx="8595360" cy="822960"/>
          </a:xfrm>
          <a:prstGeom prst="rect">
            <a:avLst/>
          </a:prstGeom>
          <a:solidFill>
            <a:srgbClr val="000000">
              <a:alpha val="45000"/>
            </a:srgbClr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4123944"/>
            <a:ext cx="502920" cy="502920"/>
          </a:xfrm>
          <a:prstGeom prst="line">
            <a:avLst/>
          </a:prstGeom>
          <a:solidFill>
            <a:srgbClr val="2E8B57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4123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7552" y="401421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Özünəşəfqət ≠ məsuliyyətsizlik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4361688"/>
            <a:ext cx="7754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Sübut edilmişdir: özünəşəfqəti yüksək insanlar özünütənqidçilərdən daha çox xəta düzəltməyə meyllidir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b="1" kern="0" spc="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NƏTİCƏ</a:t>
            </a:r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64008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25880"/>
            <a:ext cx="7863840" cy="1207008"/>
          </a:xfrm>
          <a:prstGeom prst="rect">
            <a:avLst/>
          </a:prstGeom>
          <a:solidFill>
            <a:srgbClr val="000000">
              <a:alpha val="40000"/>
            </a:srgbClr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91440" cy="120700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99032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“Biz günahkarı cəzalandırmaq üçün axtarmırıq — problemi həll etmək üçün axtarırıq.”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258568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Müasir psixoterapiyanın əsas prinsipi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Sağalma xarici avtoritetdən bağışlanma alındığı anda deyil 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insanın özünə münasibətini daxildən çevirdiyi anda baş verir: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hakimdən şahidə, ittihamçıdan araşdırmaçıya.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749040"/>
            <a:ext cx="64008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587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KƏNAN RƏHİMOV  •  Həkim-Psixoterapevt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187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Psixoloji Atmosfer Konfransı  •  Günahkar Axtarışının Cəmiyyətə Təsiri  •  2025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1184</Words>
  <Application>Microsoft Office PowerPoint</Application>
  <PresentationFormat>Экран (16:9)</PresentationFormat>
  <Paragraphs>304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Günahkarlığın Psixologiyası — Konfrans Məruzəsi</dc:title>
  <dc:subject>PptxGenJS Presentation</dc:subject>
  <dc:creator>PptxGenJS</dc:creator>
  <cp:lastModifiedBy>Kenan Ragimoff</cp:lastModifiedBy>
  <cp:revision>2</cp:revision>
  <dcterms:created xsi:type="dcterms:W3CDTF">2026-03-15T15:29:49Z</dcterms:created>
  <dcterms:modified xsi:type="dcterms:W3CDTF">2026-03-19T14:28:46Z</dcterms:modified>
</cp:coreProperties>
</file>